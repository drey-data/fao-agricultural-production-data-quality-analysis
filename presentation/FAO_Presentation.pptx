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3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E32-32A5-4BAA-A3AD-4F4531BE145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6BED671-E740-471E-8B48-CCAB050919D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691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E32-32A5-4BAA-A3AD-4F4531BE145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D671-E740-471E-8B48-CCAB050919D6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819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E32-32A5-4BAA-A3AD-4F4531BE145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D671-E740-471E-8B48-CCAB050919D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95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E32-32A5-4BAA-A3AD-4F4531BE145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D671-E740-471E-8B48-CCAB050919D6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812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E32-32A5-4BAA-A3AD-4F4531BE145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D671-E740-471E-8B48-CCAB050919D6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363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E32-32A5-4BAA-A3AD-4F4531BE145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D671-E740-471E-8B48-CCAB050919D6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45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E32-32A5-4BAA-A3AD-4F4531BE145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D671-E740-471E-8B48-CCAB05091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9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E32-32A5-4BAA-A3AD-4F4531BE145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D671-E740-471E-8B48-CCAB050919D6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4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471DE32-32A5-4BAA-A3AD-4F4531BE145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D671-E740-471E-8B48-CCAB050919D6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922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E32-32A5-4BAA-A3AD-4F4531BE145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D671-E740-471E-8B48-CCAB050919D6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678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1DE32-32A5-4BAA-A3AD-4F4531BE145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ED671-E740-471E-8B48-CCAB050919D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209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1DE32-32A5-4BAA-A3AD-4F4531BE145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6BED671-E740-471E-8B48-CCAB050919D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024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962F-4C9C-38A7-CAA9-1AE5FED4E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7653"/>
            <a:ext cx="11469511" cy="3083858"/>
          </a:xfrm>
        </p:spPr>
        <p:txBody>
          <a:bodyPr>
            <a:noAutofit/>
          </a:bodyPr>
          <a:lstStyle/>
          <a:p>
            <a:pPr algn="ctr"/>
            <a:r>
              <a:rPr lang="en-US" sz="6000" dirty="0">
                <a:latin typeface="Arial Black" panose="020B0A04020102020204" pitchFamily="34" charset="0"/>
              </a:rPr>
              <a:t>FAO Global Agricultural Production and Data Quality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21417-8151-10BF-EDDB-FD7505BF5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9688" y="5340527"/>
            <a:ext cx="3826935" cy="586140"/>
          </a:xfrm>
        </p:spPr>
        <p:txBody>
          <a:bodyPr/>
          <a:lstStyle/>
          <a:p>
            <a:pPr algn="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Prepared by; dare olopade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364C1D6-D377-2B62-02D0-2E54AB437E09}"/>
              </a:ext>
            </a:extLst>
          </p:cNvPr>
          <p:cNvSpPr txBox="1">
            <a:spLocks/>
          </p:cNvSpPr>
          <p:nvPr/>
        </p:nvSpPr>
        <p:spPr>
          <a:xfrm>
            <a:off x="4614542" y="3754438"/>
            <a:ext cx="6589682" cy="586140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 Data Analytics Project Using SQL &amp; Power BI</a:t>
            </a:r>
          </a:p>
        </p:txBody>
      </p:sp>
    </p:spTree>
    <p:extLst>
      <p:ext uri="{BB962C8B-B14F-4D97-AF65-F5344CB8AC3E}">
        <p14:creationId xmlns:p14="http://schemas.microsoft.com/office/powerpoint/2010/main" val="3945147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AD915-6E12-919C-C567-CB0116C1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22954"/>
            <a:ext cx="9603275" cy="59455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9665D-352C-1323-3374-10193471F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9964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project analyzes FAO agricultural production data (1961–2013) to reveal production trends and evaluate data quality across countries and commodities.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Objective: Clean and standardize the raw dataset, measure data completeness, and deliver three interactive Power BI dashboards for exploratory and stakeholder reporting.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Tools &amp; workflow: Data cleaning and modeling in SQL Server, transformations in Power Query, and reporting in Power BI.</a:t>
            </a:r>
          </a:p>
        </p:txBody>
      </p:sp>
    </p:spTree>
    <p:extLst>
      <p:ext uri="{BB962C8B-B14F-4D97-AF65-F5344CB8AC3E}">
        <p14:creationId xmlns:p14="http://schemas.microsoft.com/office/powerpoint/2010/main" val="3528753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BE57-4EA5-56B5-CD8B-BA964CFA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12519"/>
            <a:ext cx="6123265" cy="49370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7E48E-8E53-6C44-B243-58C1E9940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111" y="2015733"/>
            <a:ext cx="10659743" cy="405769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Agricultural data reported by different countries is often inconsistent, incomplete, or recorded using varying formats.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Missing values, zero entries, and non-standardized fields make it difficult to compare production across countries, years, or commodities.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irregularities reduce the reliability of analysis, distort trend interpretation, and hinder evidence-based decision-making.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project aims to clean, standardize, and transform FAO’s raw data into a reliable, comparable, and analytics-ready format for meaningful insights.</a:t>
            </a:r>
          </a:p>
        </p:txBody>
      </p:sp>
    </p:spTree>
    <p:extLst>
      <p:ext uri="{BB962C8B-B14F-4D97-AF65-F5344CB8AC3E}">
        <p14:creationId xmlns:p14="http://schemas.microsoft.com/office/powerpoint/2010/main" val="646155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6D4C9-1641-082C-4B97-5EC01EC4C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89943"/>
            <a:ext cx="9603275" cy="50499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95A2E-C362-8BE4-67B9-649A87DE7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156" y="2015732"/>
            <a:ext cx="11367911" cy="39673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Ensure Data Accuracy &amp; Consistency: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Clean the dataset by handling missing values, incorrect zeros, duplicates, and inconsistent entries to improve reliability.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Standardize Country &amp; Production Metrics: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Normalize country names, measurement units, and product categories so comparisons across regions and time are valid.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Build a Structured, Analysis-Ready Dataset: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Transform the raw FAO data into a well-organized table that supports efficient querying, trend analysis, and modeling.</a:t>
            </a:r>
          </a:p>
        </p:txBody>
      </p:sp>
    </p:spTree>
    <p:extLst>
      <p:ext uri="{BB962C8B-B14F-4D97-AF65-F5344CB8AC3E}">
        <p14:creationId xmlns:p14="http://schemas.microsoft.com/office/powerpoint/2010/main" val="2198824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12CAA-E976-40C1-69FC-1250113E5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EAFCF-9D67-79B3-3BE7-2CDA0044B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89943"/>
            <a:ext cx="9603275" cy="50499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93965-BD43-9AD3-DF29-772ECE1C4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156" y="2015732"/>
            <a:ext cx="11367911" cy="39673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Identify Key Agricultural Trends: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Reveal year-to-year performance, leading producers, production gaps, and anomalies across different countries.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Develop an Interactive Insight Dashboard: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Create a simple, visual reporting tool for stakeholders to explore agricultural performance and make informed decisions.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Support Data-Driven Agriculture Policy: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Provide insights that help governments, analysts, and organizations improve planning, resource allocation, and intervention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4222620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4E1A4-430B-B8AC-D75E-061BBFEDD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75645"/>
            <a:ext cx="9603275" cy="575848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DE84F-2753-8578-C9D4-3A0AB0466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222" y="2015732"/>
            <a:ext cx="10971471" cy="405769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Dataset Source: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Food and Agriculture Organization (FAO) global agricultural production data.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Dataset Structure: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Rows: Each row represents a country’s agricultural output for a specific product and year.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Columns include:</a:t>
            </a:r>
          </a:p>
          <a:p>
            <a:pPr lvl="2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Area Abbreviation - Representing abbreviation of the country’s name</a:t>
            </a:r>
          </a:p>
          <a:p>
            <a:pPr lvl="2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Area - Represents the Country. Item Code – Code of items produced</a:t>
            </a:r>
          </a:p>
          <a:p>
            <a:pPr lvl="2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Item - The agricultural product (e.g., maize, rice, sorghum)</a:t>
            </a:r>
          </a:p>
          <a:p>
            <a:pPr lvl="2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Element Code - Code for each element represented</a:t>
            </a:r>
          </a:p>
          <a:p>
            <a:pPr lvl="2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Element - (e.g., Food or Feed)</a:t>
            </a:r>
          </a:p>
          <a:p>
            <a:pPr lvl="2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Unit - Type of measurement used (1000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tonnes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2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Latitude and Longitude</a:t>
            </a:r>
          </a:p>
          <a:p>
            <a:pPr lvl="2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Year – Reporting years from Y1961 to Y2013</a:t>
            </a:r>
          </a:p>
        </p:txBody>
      </p:sp>
    </p:spTree>
    <p:extLst>
      <p:ext uri="{BB962C8B-B14F-4D97-AF65-F5344CB8AC3E}">
        <p14:creationId xmlns:p14="http://schemas.microsoft.com/office/powerpoint/2010/main" val="1312636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3C1DF-8A79-6756-144F-CC304D0E9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3A636-0B48-B01A-17BB-4801F472B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75645"/>
            <a:ext cx="9603275" cy="575848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C55F6-A54C-59E8-7B84-832FF2A22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222" y="2015732"/>
            <a:ext cx="10971471" cy="405769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Key Characteristics: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Covers multiple countries and a wide range of crops.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Includes several decades of historical data.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Contains zeroes, missing values, and non-standard reporting formats.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Requires cleaning to ensure correct analysis.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Purpose of Dataset Use:</a:t>
            </a:r>
            <a:b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build a consistent, reliable view of agricultural production trends across countries and time periods.</a:t>
            </a:r>
          </a:p>
        </p:txBody>
      </p:sp>
    </p:spTree>
    <p:extLst>
      <p:ext uri="{BB962C8B-B14F-4D97-AF65-F5344CB8AC3E}">
        <p14:creationId xmlns:p14="http://schemas.microsoft.com/office/powerpoint/2010/main" val="103930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BDB64-293F-EA02-4DD7-99EEBD68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D665-F43C-8E5A-ECF4-F4D1182D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75645"/>
            <a:ext cx="9603275" cy="575848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Dataset Description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18DB6E-BCB0-3D7C-28A5-133553DB5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10" y="1941689"/>
            <a:ext cx="10498667" cy="4132086"/>
          </a:xfrm>
        </p:spPr>
      </p:pic>
    </p:spTree>
    <p:extLst>
      <p:ext uri="{BB962C8B-B14F-4D97-AF65-F5344CB8AC3E}">
        <p14:creationId xmlns:p14="http://schemas.microsoft.com/office/powerpoint/2010/main" val="4117232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88F1-2A3B-F033-3648-6271B7D5B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5983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Black" panose="020B0A04020102020204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170E9-78DE-4A92-5C2F-D552C0CF8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Raw FAO agricultural data was first explored to understand structure, gaps, and inconsistencies.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 cleaning and transformation were performed using SQL.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long-format analytical table was created to enable time-series analysis.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 quality indicators were engineered to track missing and zero values.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Cleaned and summarized views were connected to Power BI for modeling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926987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03BE-BC84-464F-BB24-7528875F9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9DF79-2244-B7D7-FD48-227EE96C5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59837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Data Preparation &amp; Cleaning (SQL)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E1C7A-1DB4-EAF1-0517-CC037A575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Raw dataset contained year values as columns (1961–2013).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 was unpivoted to convert years into a single Year column and corresponding Quantity values.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Text fields were standardized (country names, item names, elements).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Empty cells were preserved as NULL values to avoid false zero assumptions.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Numeric fields were validated to ensure proper data types.</a:t>
            </a:r>
          </a:p>
        </p:txBody>
      </p:sp>
    </p:spTree>
    <p:extLst>
      <p:ext uri="{BB962C8B-B14F-4D97-AF65-F5344CB8AC3E}">
        <p14:creationId xmlns:p14="http://schemas.microsoft.com/office/powerpoint/2010/main" val="3631054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1079F-5545-C24A-3599-DA08110D6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26CF-5255-E237-DDDE-C7483655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59837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Data Preparation &amp; Cleaning (SQL)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16CD2-421A-E23D-971C-5E0C0F3FB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311" y="2015732"/>
            <a:ext cx="3852543" cy="40521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dataset was transformed into a long format by unpivoting year columns into a single Year and Quantity field to support time-series analysis.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CBB00C-7A86-BC12-D66E-3E48EE6EF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89" y="1925708"/>
            <a:ext cx="5965677" cy="414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78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D0FD7-1A1C-A02D-CE69-6F55E4484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FCB0-3562-B55E-C3CB-8B2ACDAB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59837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Data Preparation &amp; Cleaning (SQL)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F8FA6-0FCB-C41A-DF99-B910BDB3E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311" y="2015732"/>
            <a:ext cx="3852543" cy="371902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 data quality check was performed to quantify zero and missing values across all yearly columns in the raw FAO dataset.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F2D87B-3FE8-744F-C0BE-443824EC5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66" y="1880374"/>
            <a:ext cx="6536267" cy="418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4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A6D60-72D1-2F2F-0C43-30BAA222C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243E-8DA5-35CA-7162-F6919162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59837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Data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B9995-0E9C-9214-4703-87FF92A87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673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Cleaned SQL views were imported into Power BI using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DirectQuery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Summary views were used to improve performance and reduce memory load.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Logical separation of tables which were used for: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Production summaries.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Country-level analysis.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 quality analysis.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Measures were created using DAX for KPIs, trends, and comparisons.</a:t>
            </a:r>
          </a:p>
        </p:txBody>
      </p:sp>
    </p:spTree>
    <p:extLst>
      <p:ext uri="{BB962C8B-B14F-4D97-AF65-F5344CB8AC3E}">
        <p14:creationId xmlns:p14="http://schemas.microsoft.com/office/powerpoint/2010/main" val="2708555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6C7E0-3415-618F-7A75-9E35579F3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B1E46-7722-1835-8CB7-6726B59A3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59837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Data Modeling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AFE995-42D9-61E0-CAD3-E290421B5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146" y="1939646"/>
            <a:ext cx="9008533" cy="478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2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8FABC-2416-8A51-BADC-B56DFCC0D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3DE03-1535-66AE-EB58-52B095CDE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713132" cy="459837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Data Analysis &amp; Dashboard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EC583-95F0-9C2F-FC5D-7F6A79EB5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Analytical Approach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Analysis was conducted using a long-format analytical table optimized for time-series and regional comparison.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was explored across time (year &amp; decade), geography (country &amp; continent), and commodities (items &amp; elements).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Special focus was placed on data quality, distinguishing between missing values and true zero production values.</a:t>
            </a:r>
          </a:p>
          <a:p>
            <a:pPr lvl="1"/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671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A2C3C-251F-CA48-F5AF-743DEBD07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F72A-8DFD-B3AF-36AB-9955FE68B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10243710" cy="459837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Data Analysis &amp; Dashboard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5EA4A-5FCD-94F2-C99A-4EB1242DB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2790" y="1960556"/>
            <a:ext cx="4699210" cy="398995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Power BI dashboard was organized into three interconnected pages: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  <a:p>
            <a:pPr lvl="2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Global production trends (1961–2013).</a:t>
            </a:r>
          </a:p>
          <a:p>
            <a:pPr lvl="2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Top agricultural items by output</a:t>
            </a:r>
          </a:p>
          <a:p>
            <a:pPr lvl="2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Production comparison across continents.</a:t>
            </a:r>
          </a:p>
          <a:p>
            <a:pPr lvl="2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High-level KPIs (total output, countries, items).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1533D4-9FF5-24AB-C8CB-F4A57F14C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33" y="1976824"/>
            <a:ext cx="7177474" cy="402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93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54F52-8A77-2EBD-4239-FA5E4CA03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77647-222B-2EAB-D4D9-93CA4A9E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10243710" cy="459837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Data Analysis &amp; Dashboard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431A4-9AE6-FD11-66F1-CF72804F7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2548" y="2029521"/>
            <a:ext cx="4699210" cy="398995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Production Analysis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Top producing countries by commodity.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Decade-based production trends.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Regional and commodity dominance patterns.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Interactive filtering by year, item, and continent.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7193E-22CA-CC1A-7594-033841665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" y="1942996"/>
            <a:ext cx="7170949" cy="406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66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495EB-A131-B430-3886-142D6EBD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5142-00F5-64BC-6370-395B1ADCF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10243710" cy="459837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Data Analysis &amp; Dashboard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5A78F-3208-8831-0F4A-247FD31C0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2548" y="2029521"/>
            <a:ext cx="4699210" cy="409241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Data Quality</a:t>
            </a:r>
          </a:p>
          <a:p>
            <a:pPr lvl="1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Missing vs zero value analysis.</a:t>
            </a:r>
          </a:p>
          <a:p>
            <a:pPr lvl="1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Data completeness trends over time.</a:t>
            </a:r>
          </a:p>
          <a:p>
            <a:pPr lvl="1"/>
            <a:r>
              <a:rPr lang="it-IT" sz="2300" dirty="0">
                <a:latin typeface="Arial" panose="020B0604020202020204" pitchFamily="34" charset="0"/>
                <a:cs typeface="Arial" panose="020B0604020202020204" pitchFamily="34" charset="0"/>
              </a:rPr>
              <a:t>Regional patterns in data reporting.</a:t>
            </a:r>
          </a:p>
          <a:p>
            <a:pPr lvl="1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Validation of reporting improvement hypothesis.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B78065-AAE8-E71F-92F7-37585DF7B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2" y="1927061"/>
            <a:ext cx="7277312" cy="409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477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62993-DE82-6041-782E-945431100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C66C5-D522-80AF-F5E4-E42601D5C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10243710" cy="459837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Data Analysis &amp; Dashboard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63ACB-EA07-D7E2-44C4-F36E20066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29521"/>
            <a:ext cx="10520179" cy="398995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Hypothesis Testing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Earlier years show higher levels of missing data, indicating weaker reporting systems.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Data completeness improves steadily over time, reaching near-complete coverage in later years.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trend supports the hypothesis of improving global agricultural data reporting standards.</a:t>
            </a:r>
          </a:p>
        </p:txBody>
      </p:sp>
    </p:spTree>
    <p:extLst>
      <p:ext uri="{BB962C8B-B14F-4D97-AF65-F5344CB8AC3E}">
        <p14:creationId xmlns:p14="http://schemas.microsoft.com/office/powerpoint/2010/main" val="932894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1BFA3-D0FD-65DE-E537-E482C6EF5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2FEB-D5D2-4075-4CBC-3C5474B12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10243710" cy="459837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Key insight and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8FAEE-04B6-671E-F420-05B42FE9E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29521"/>
            <a:ext cx="10520179" cy="175225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Global Production Trends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Global agricultural production shows a consistent upward trend from 1961 to 2013.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Production growth becomes more pronounced from the 1990s onward, indicating expansion in both output and reporting.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E222B1-2213-0782-F333-D6EA3A047EEF}"/>
              </a:ext>
            </a:extLst>
          </p:cNvPr>
          <p:cNvSpPr txBox="1">
            <a:spLocks/>
          </p:cNvSpPr>
          <p:nvPr/>
        </p:nvSpPr>
        <p:spPr>
          <a:xfrm>
            <a:off x="1451579" y="3781778"/>
            <a:ext cx="10520179" cy="17522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Commodity Dominance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Staple crops such as cereals and starchy roots dominate global agricultural output.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These commodities consistently account for the largest share of total production across decades.</a:t>
            </a:r>
          </a:p>
        </p:txBody>
      </p:sp>
    </p:spTree>
    <p:extLst>
      <p:ext uri="{BB962C8B-B14F-4D97-AF65-F5344CB8AC3E}">
        <p14:creationId xmlns:p14="http://schemas.microsoft.com/office/powerpoint/2010/main" val="3303938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DC5C6-BEF2-B343-5197-4B26858A4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FD0A7-F8FC-4D32-9A94-644E4DB9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10243710" cy="459837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Key insight and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08AAF-DA96-394E-BE4E-2E2A9CA1E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29521"/>
            <a:ext cx="10520179" cy="175225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Regional Performance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Asia emerges as the leading contributor to global agricultural production.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Americas and Europe follow, while Africa shows steady but comparatively lower output.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2BF6D9-DF3F-8669-CF9E-D485D0D8633E}"/>
              </a:ext>
            </a:extLst>
          </p:cNvPr>
          <p:cNvSpPr txBox="1">
            <a:spLocks/>
          </p:cNvSpPr>
          <p:nvPr/>
        </p:nvSpPr>
        <p:spPr>
          <a:xfrm>
            <a:off x="1451579" y="3781778"/>
            <a:ext cx="10520179" cy="22690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Quality Patterns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Early years (1960s–1970s) contain higher levels of missing data.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completeness improves significantly in later years, reaching near-complete reporting by the 2000s.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supports the hypothesis that global agricultural reporting improved over time.</a:t>
            </a:r>
          </a:p>
        </p:txBody>
      </p:sp>
    </p:spTree>
    <p:extLst>
      <p:ext uri="{BB962C8B-B14F-4D97-AF65-F5344CB8AC3E}">
        <p14:creationId xmlns:p14="http://schemas.microsoft.com/office/powerpoint/2010/main" val="1069102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15EE2-E5FF-2F0E-0649-F0211F82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2B1BA-0F67-FA8D-DB08-A5D8C6C0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10243710" cy="459837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Recommendations and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A66A3-7FDF-6F79-E675-2A74E0C8B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29521"/>
            <a:ext cx="10520179" cy="175225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Improve Early-Year Data Coverage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Stakeholders should treat agricultural data from earlier years with caution due to higher levels of missing records.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Historical trend analysis should account for data gaps when making long-term comparisons.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FFAA32-83A8-5E41-03A4-080BA1ACF19E}"/>
              </a:ext>
            </a:extLst>
          </p:cNvPr>
          <p:cNvSpPr txBox="1">
            <a:spLocks/>
          </p:cNvSpPr>
          <p:nvPr/>
        </p:nvSpPr>
        <p:spPr>
          <a:xfrm>
            <a:off x="1451579" y="3781778"/>
            <a:ext cx="10520179" cy="22690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Strengthen Data Reporting Standards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Continued investment in standardized agricultural data collection will ensure consistency across countries.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Clear differentiation between true zero and missing records should be enforced in reporting systems.</a:t>
            </a:r>
          </a:p>
        </p:txBody>
      </p:sp>
    </p:spTree>
    <p:extLst>
      <p:ext uri="{BB962C8B-B14F-4D97-AF65-F5344CB8AC3E}">
        <p14:creationId xmlns:p14="http://schemas.microsoft.com/office/powerpoint/2010/main" val="896487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D4204-FAA6-7437-A33C-D57E0B42B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98AB-A858-D5CE-6690-EFDC625D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10243710" cy="459837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Recommendations and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1D674-9ACC-E1F0-A922-528ACD9A8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29521"/>
            <a:ext cx="10520179" cy="175225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Use Regional Benchmarks for Policy Planning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Regions with lower output growth can be benchmarked against high-performing regions such as Asia.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Policymakers can leverage regional comparisons to identify opportunities for productivity improvement.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3D155B-178B-3C0C-FB21-D3F6799D0798}"/>
              </a:ext>
            </a:extLst>
          </p:cNvPr>
          <p:cNvSpPr txBox="1">
            <a:spLocks/>
          </p:cNvSpPr>
          <p:nvPr/>
        </p:nvSpPr>
        <p:spPr>
          <a:xfrm>
            <a:off x="1451579" y="3959807"/>
            <a:ext cx="10520179" cy="20684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Focus on High-Impact Commodities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Staple crops dominate global production and should remain a priority for food security planning.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Data-driven allocation of resources towards key commodities can improve agricultural sustainability.</a:t>
            </a:r>
          </a:p>
        </p:txBody>
      </p:sp>
    </p:spTree>
    <p:extLst>
      <p:ext uri="{BB962C8B-B14F-4D97-AF65-F5344CB8AC3E}">
        <p14:creationId xmlns:p14="http://schemas.microsoft.com/office/powerpoint/2010/main" val="1247764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3CFC4-EF51-80FA-9DB4-DCADB8A1B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D031-D83D-CC78-6F27-29E2D1592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10243710" cy="459837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D1FB7-9B60-B8FC-7AB8-FE7AB7DEF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29521"/>
            <a:ext cx="10520179" cy="398745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quality directly affects the reliability of agricultural insights and policy decisions.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Through structured cleaning, validation, and modeling, the FAO dataset was transformed into an analysis-ready format.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analysis revealed improving data completeness over time, alongside clear regional and commodity-level production patterns.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final dashboard provides a clear, interactive view for exploring agricultural output trends and data quality across countries and years.</a:t>
            </a:r>
          </a:p>
        </p:txBody>
      </p:sp>
    </p:spTree>
    <p:extLst>
      <p:ext uri="{BB962C8B-B14F-4D97-AF65-F5344CB8AC3E}">
        <p14:creationId xmlns:p14="http://schemas.microsoft.com/office/powerpoint/2010/main" val="349669333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1741</TotalTime>
  <Words>1336</Words>
  <Application>Microsoft Office PowerPoint</Application>
  <PresentationFormat>Widescreen</PresentationFormat>
  <Paragraphs>129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Black</vt:lpstr>
      <vt:lpstr>Gill Sans MT</vt:lpstr>
      <vt:lpstr>Wingdings</vt:lpstr>
      <vt:lpstr>Gallery</vt:lpstr>
      <vt:lpstr>FAO Global Agricultural Production and Data Quality Analysis</vt:lpstr>
      <vt:lpstr>Introduction</vt:lpstr>
      <vt:lpstr>Problem Statement</vt:lpstr>
      <vt:lpstr>Project Objectives</vt:lpstr>
      <vt:lpstr>Project Objectives</vt:lpstr>
      <vt:lpstr>Dataset Description</vt:lpstr>
      <vt:lpstr>Dataset Description</vt:lpstr>
      <vt:lpstr>Dataset Description</vt:lpstr>
      <vt:lpstr>methodology</vt:lpstr>
      <vt:lpstr>Data Preparation &amp; Cleaning (SQL)</vt:lpstr>
      <vt:lpstr>Data Preparation &amp; Cleaning (SQL)</vt:lpstr>
      <vt:lpstr>Data Preparation &amp; Cleaning (SQL)</vt:lpstr>
      <vt:lpstr>Data Modeling</vt:lpstr>
      <vt:lpstr>Data Modeling</vt:lpstr>
      <vt:lpstr>Data Analysis &amp; Dashboard Design</vt:lpstr>
      <vt:lpstr>Data Analysis &amp; Dashboard Design</vt:lpstr>
      <vt:lpstr>Data Analysis &amp; Dashboard Design</vt:lpstr>
      <vt:lpstr>Data Analysis &amp; Dashboard Design</vt:lpstr>
      <vt:lpstr>Data Analysis &amp; Dashboard Design</vt:lpstr>
      <vt:lpstr>Key insight and findings</vt:lpstr>
      <vt:lpstr>Key insight and findings</vt:lpstr>
      <vt:lpstr>Recommendations and implications</vt:lpstr>
      <vt:lpstr>Recommendations and implications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Olopade Dare</dc:creator>
  <cp:lastModifiedBy>Olopade Dare</cp:lastModifiedBy>
  <cp:revision>2</cp:revision>
  <dcterms:created xsi:type="dcterms:W3CDTF">2025-12-12T10:28:13Z</dcterms:created>
  <dcterms:modified xsi:type="dcterms:W3CDTF">2025-12-15T10:39:05Z</dcterms:modified>
</cp:coreProperties>
</file>